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相对性能（示意）</c:v>
                </c:pt>
              </c:strCache>
            </c:strRef>
          </c:tx>
          <c:spPr>
            <a:solidFill>
              <a:srgbClr val="C0504D"/>
            </a:solidFill>
            <a:ln w="381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100%</c:v>
                  </c:pt>
                  <c:pt idx="1">
                    <c:v>80%</c:v>
                  </c:pt>
                  <c:pt idx="2">
                    <c:v>60%</c:v>
                  </c:pt>
                  <c:pt idx="3">
                    <c:v>40%</c:v>
                  </c:pt>
                  <c:pt idx="4">
                    <c:v>20%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99</c:v>
                </c:pt>
                <c:pt idx="2">
                  <c:v>97</c:v>
                </c:pt>
                <c:pt idx="3">
                  <c:v>82</c:v>
                </c:pt>
                <c:pt idx="4">
                  <c:v>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7"/>
          </a:solidFill>
          <a:ln w="12700">
            <a:solidFill>
              <a:srgbClr val="020817">
                <a:alpha val="0"/>
              </a:srgbClr>
            </a:solidFill>
            <a:prstDash val="solid"/>
          </a:ln>
        </p:spPr>
      </p:sp>
      <p:pic>
        <p:nvPicPr>
          <p:cNvPr id="3" name="Image 0" descr="/mnt/data/wide_cinematic_high_tech_abstract_scene_a_glowi.png">    </p:cNvPr>
          <p:cNvPicPr>
            <a:picLocks noChangeAspect="1"/>
          </p:cNvPicPr>
          <p:nvPr/>
        </p:nvPicPr>
        <p:blipFill>
          <a:blip r:embed="rId1"/>
          <a:srcRect l="0" r="0" t="53" b="53"/>
          <a:stretch/>
        </p:blipFill>
        <p:spPr>
          <a:xfrm>
            <a:off x="5989320" y="960120"/>
            <a:ext cx="5806440" cy="32644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" y="585216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1E3A8A">
              <a:alpha val="94000"/>
            </a:srgbClr>
          </a:solidFill>
          <a:ln w="12700">
            <a:solidFill>
              <a:srgbClr val="3454D1">
                <a:alpha val="7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26364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E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科普汇报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13258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大模型有效深度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58368" y="19933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BB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概念 · 成因 · 评估方法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58368" y="2788920"/>
            <a:ext cx="411480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063240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6F4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不是“大模型有多少层”，而是“真正用上了多少层”。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8368" y="539496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面向非专业听众，尽量用直觉、图示和可操作评估流程讲清楚。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一句话理解：有效深度是什么？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总层数是“设计长度”；有效深度是“真正贡献明显计算的长度”。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87552" y="1828800"/>
            <a:ext cx="2057400" cy="2057400"/>
          </a:xfrm>
          <a:prstGeom prst="ellipse">
            <a:avLst/>
          </a:prstGeom>
          <a:solidFill>
            <a:srgbClr val="2F80ED">
              <a:alpha val="92000"/>
            </a:srgbClr>
          </a:solidFill>
          <a:ln w="1651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0432" y="23591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总深度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25296" y="28346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模型实际堆了多少层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90872" y="1828800"/>
            <a:ext cx="2057400" cy="2057400"/>
          </a:xfrm>
          <a:prstGeom prst="ellipse">
            <a:avLst/>
          </a:prstGeom>
          <a:solidFill>
            <a:srgbClr val="7C3AED">
              <a:alpha val="92000"/>
            </a:srgbClr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73752" y="23591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有效深度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928616" y="28346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输出已经基本稳定时，需要走到第几层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394192" y="1828800"/>
            <a:ext cx="2057400" cy="2057400"/>
          </a:xfrm>
          <a:prstGeom prst="ellipse">
            <a:avLst/>
          </a:prstGeom>
          <a:solidFill>
            <a:srgbClr val="00B8D9">
              <a:alpha val="92000"/>
            </a:srgbClr>
          </a:solidFill>
          <a:ln w="16510">
            <a:solidFill>
              <a:srgbClr val="00B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77072" y="23591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冗余/旁路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631936" y="28346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后面层可能只是微调，或被残差通道绕过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46120" y="263347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≠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931152" y="263347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受影响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4800600"/>
            <a:ext cx="10332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15568" y="4965192"/>
            <a:ext cx="99303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类比：一本 80 页教材，考试可能只考前 50 页；后 30 页不是没写，而是对这张试卷贡献较小。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66928" y="6473952"/>
            <a:ext cx="10863072" cy="0"/>
          </a:xfrm>
          <a:prstGeom prst="line">
            <a:avLst/>
          </a:prstGeom>
          <a:noFill/>
          <a:ln w="12700">
            <a:solidFill>
              <a:srgbClr val="DDE7F3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大模型有效深度｜科普汇报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74420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为什么要研究有效深度？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它直接关联成本、速度和模型结构理解。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49808" y="142646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每生成 1 个 token，模型通常要顺序跑完所有 Transformer 层。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458200" y="1325880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E9EFF8">
              <a:alpha val="90000"/>
            </a:srgbClr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94776" y="139903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458200" y="1746504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E9EFF8">
              <a:alpha val="90000"/>
            </a:srgbClr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94776" y="181965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L9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458200" y="2167128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E9EFF8">
              <a:alpha val="90000"/>
            </a:srgbClr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94776" y="224028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L8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8458200" y="2587752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E9EFF8">
              <a:alpha val="90000"/>
            </a:srgbClr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94776" y="266090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L7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458200" y="3008376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7C3AED"/>
          </a:solidFill>
          <a:ln w="12700">
            <a:solidFill>
              <a:srgbClr val="7C3AED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94776" y="308152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L6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458200" y="3429000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2F80ED"/>
          </a:solidFill>
          <a:ln w="1270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94776" y="35021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L5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458200" y="3849624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7C3AED"/>
          </a:solidFill>
          <a:ln w="12700">
            <a:solidFill>
              <a:srgbClr val="7C3AED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94776" y="392277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L4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458200" y="4270248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2F80ED"/>
          </a:solidFill>
          <a:ln w="1270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94776" y="434340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L3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8458200" y="4690872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7C3AED"/>
          </a:solidFill>
          <a:ln w="12700">
            <a:solidFill>
              <a:srgbClr val="7C3AED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94776" y="476402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458200" y="5111496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2F80ED"/>
          </a:solidFill>
          <a:ln w="1270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94776" y="518464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L1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49808" y="2057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如果某些层贡献很小，就可能带来：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14400" y="2743200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70432" y="26517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推理更快：少跑层，降低延迟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14400" y="331012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0432" y="321868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部署更省：显存、KV Cache、算力压力下降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14400" y="3877056"/>
            <a:ext cx="109728" cy="10972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70432" y="378561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结构更清楚：理解知识、推理和表征分布在哪里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14400" y="4443984"/>
            <a:ext cx="109728" cy="10972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70432" y="435254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压缩更安全：知道“剪哪里”更不容易崩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818120" y="5623560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E6F4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73568" y="576072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 ≠ 一定都被充分利用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66928" y="6473952"/>
            <a:ext cx="10863072" cy="0"/>
          </a:xfrm>
          <a:prstGeom prst="line">
            <a:avLst/>
          </a:prstGeom>
          <a:noFill/>
          <a:ln w="12700">
            <a:solidFill>
              <a:srgbClr val="DDE7F3">
                <a:alpha val="6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大模型有效深度｜科普汇报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74420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大模型推理像一条“层流水线”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输入文本先变成向量，再一层一层加工，最后预测下一个 token。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600200" cy="1078992"/>
          </a:xfrm>
          <a:prstGeom prst="roundRect">
            <a:avLst>
              <a:gd name="adj" fmla="val 5932"/>
            </a:avLst>
          </a:prstGeom>
          <a:solidFill>
            <a:srgbClr val="E6F4FF"/>
          </a:solidFill>
          <a:ln w="12700">
            <a:solidFill>
              <a:srgbClr val="DDE7F3"/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2121408"/>
            <a:ext cx="1380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文本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795528" y="2560320"/>
            <a:ext cx="1380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“今天天气”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95144" y="231343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98648" y="1920240"/>
            <a:ext cx="1600200" cy="1078992"/>
          </a:xfrm>
          <a:prstGeom prst="roundRect">
            <a:avLst>
              <a:gd name="adj" fmla="val 5932"/>
            </a:avLst>
          </a:prstGeom>
          <a:solidFill>
            <a:srgbClr val="EEF2FF"/>
          </a:solidFill>
          <a:ln w="12700">
            <a:solidFill>
              <a:srgbClr val="DDE7F3"/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08376" y="2121408"/>
            <a:ext cx="1380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Token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3008376" y="2560320"/>
            <a:ext cx="1380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编号序列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07992" y="231343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11496" y="1920240"/>
            <a:ext cx="1600200" cy="1078992"/>
          </a:xfrm>
          <a:prstGeom prst="roundRect">
            <a:avLst>
              <a:gd name="adj" fmla="val 5932"/>
            </a:avLst>
          </a:prstGeom>
          <a:solidFill>
            <a:srgbClr val="F0FDFA"/>
          </a:solidFill>
          <a:ln w="12700">
            <a:solidFill>
              <a:srgbClr val="DDE7F3"/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21224" y="2121408"/>
            <a:ext cx="1380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Embedding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5221224" y="2560320"/>
            <a:ext cx="1380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向量表示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720840" y="231343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24344" y="1920240"/>
            <a:ext cx="1600200" cy="1078992"/>
          </a:xfrm>
          <a:prstGeom prst="roundRect">
            <a:avLst>
              <a:gd name="adj" fmla="val 5932"/>
            </a:avLst>
          </a:prstGeom>
          <a:solidFill>
            <a:srgbClr val="F5F3FF"/>
          </a:solidFill>
          <a:ln w="12700">
            <a:solidFill>
              <a:srgbClr val="DDE7F3"/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34072" y="2121408"/>
            <a:ext cx="1380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Transformer</a:t>
            </a:r>
            <a:endParaRPr lang="en-US" sz="1520" dirty="0"/>
          </a:p>
          <a:p>
            <a:pPr algn="ctr" indent="0" marL="0">
              <a:buNone/>
            </a:pPr>
            <a:r>
              <a:rPr lang="en-US" sz="152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层 1…N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7434072" y="2560320"/>
            <a:ext cx="1380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注意力 + MLP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933688" y="231343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537192" y="1920240"/>
            <a:ext cx="1600200" cy="1078992"/>
          </a:xfrm>
          <a:prstGeom prst="roundRect">
            <a:avLst>
              <a:gd name="adj" fmla="val 5932"/>
            </a:avLst>
          </a:prstGeom>
          <a:solidFill>
            <a:srgbClr val="FFF7ED"/>
          </a:solidFill>
          <a:ln w="12700">
            <a:solidFill>
              <a:srgbClr val="DDE7F3"/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46920" y="2121408"/>
            <a:ext cx="1380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9646920" y="2560320"/>
            <a:ext cx="1380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下一个词概率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4400" y="388620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5F8FF"/>
          </a:solidFill>
          <a:ln w="12700">
            <a:solidFill>
              <a:srgbClr val="D5E4F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4014216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每层输入/输出形状不变：  X ∈ R^{序列长度 × 隐藏维度}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629400" y="3822192"/>
            <a:ext cx="4663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30568" y="3986784"/>
            <a:ext cx="42611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有效深度的评估，就是观察：信息在流水线中走到哪一层时，已经“够用了”。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566928" y="6473952"/>
            <a:ext cx="10863072" cy="0"/>
          </a:xfrm>
          <a:prstGeom prst="line">
            <a:avLst/>
          </a:prstGeom>
          <a:noFill/>
          <a:ln w="12700">
            <a:solidFill>
              <a:srgbClr val="DDE7F3">
                <a:alpha val="6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大模型有效深度｜科普汇报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74420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每一层内部：加工 + 保留原信息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残差连接让信息可以沿“主干”直接传下去。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192024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E6F4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396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 x_l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0" y="207568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29000" y="19202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3F0FF"/>
          </a:solidFill>
          <a:ln w="12700">
            <a:solidFill>
              <a:srgbClr val="DE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21396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13248" y="207568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108192" y="19202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CFE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08192" y="21396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MLP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01584" y="207568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796528" y="192024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96528" y="21396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 x_{l+1}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309067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残差主干：原信息直接保留并继续传递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572768" y="2926080"/>
            <a:ext cx="81838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234440" y="406908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F5F8FF"/>
          </a:solidFill>
          <a:ln w="12700">
            <a:solidFill>
              <a:srgbClr val="D5E4FF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99032" y="4197096"/>
            <a:ext cx="4700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x_{l+1} = x_l + F_l( LayerNorm(x_l) 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01968" y="3986784"/>
            <a:ext cx="43159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03136" y="4151376"/>
            <a:ext cx="391363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直觉：如果 F_l 做的改动很小，输出就和输入很像；这一层对最终结果的“新增贡献”就可能较小。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85216" y="619963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7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参考：D2L Transformer 章节；Pre-LN Transformer 相关研究。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66928" y="6473952"/>
            <a:ext cx="10863072" cy="0"/>
          </a:xfrm>
          <a:prstGeom prst="line">
            <a:avLst/>
          </a:prstGeom>
          <a:noFill/>
          <a:ln w="12700">
            <a:solidFill>
              <a:srgbClr val="DDE7F3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大模型有效深度｜科普汇报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74420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为什么会出现“有效深度不足”？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不是某一条原因，而是结构、训练和任务共同作用。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4800600" cy="1115568"/>
          </a:xfrm>
          <a:prstGeom prst="roundRect">
            <a:avLst>
              <a:gd name="adj" fmla="val 6557"/>
            </a:avLst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417320"/>
            <a:ext cx="118872" cy="111556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7864" y="16002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残差通道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97864" y="19476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信息可绕过某些层；梯度也更容易回传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2971800"/>
            <a:ext cx="4800600" cy="1115568"/>
          </a:xfrm>
          <a:prstGeom prst="roundRect">
            <a:avLst>
              <a:gd name="adj" fmla="val 6557"/>
            </a:avLst>
          </a:prstGeom>
          <a:solidFill>
            <a:srgbClr val="F3F0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971800"/>
            <a:ext cx="118872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97864" y="31546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层间相似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97864" y="35021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相邻层可能学到相近变换，新增信息有限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309360" y="1417320"/>
            <a:ext cx="4800600" cy="1115568"/>
          </a:xfrm>
          <a:prstGeom prst="roundRect">
            <a:avLst>
              <a:gd name="adj" fmla="val 6557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417320"/>
            <a:ext cx="118872" cy="11155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38544" y="16002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任务已足够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38544" y="19476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简单任务不一定需要走到很深才稳定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09360" y="2971800"/>
            <a:ext cx="4800600" cy="1115568"/>
          </a:xfrm>
          <a:prstGeom prst="roundRect">
            <a:avLst>
              <a:gd name="adj" fmla="val 6557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2971800"/>
            <a:ext cx="118872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38544" y="31546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训练目标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38544" y="35021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下一词预测更关注整体输出，不保证每层都“独立有用”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1325880" y="4983480"/>
            <a:ext cx="9509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527048" y="5148072"/>
            <a:ext cx="910742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结论：有效深度不是“固定真理”，而是某个模型 + 某类任务 + 某个评估标准下的观察结果。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66928" y="6473952"/>
            <a:ext cx="10863072" cy="0"/>
          </a:xfrm>
          <a:prstGeom prst="line">
            <a:avLst/>
          </a:prstGeom>
          <a:noFill/>
          <a:ln w="12700">
            <a:solidFill>
              <a:srgbClr val="DDE7F3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大模型有效深度｜科普汇报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74420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vector_illustration_style_scene_on_a_p.png">    </p:cNvPr>
          <p:cNvPicPr>
            <a:picLocks noChangeAspect="1"/>
          </p:cNvPicPr>
          <p:nvPr/>
        </p:nvPicPr>
        <p:blipFill>
          <a:blip r:embed="rId1"/>
          <a:srcRect l="8" r="8" t="0" b="0"/>
          <a:stretch/>
        </p:blipFill>
        <p:spPr>
          <a:xfrm>
            <a:off x="6720840" y="1417320"/>
            <a:ext cx="4434840" cy="2496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有效深度的三种常见定义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585216" y="8961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本质都是：用某个阈值判断“走到这里已经够接近最终模型”。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841248" y="1664208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57276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输出稳定型：中间层预测已经接近最后一层预测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41248" y="223113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2139696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性能保持型：删掉/跳过一些层后，任务分数几乎不降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41248" y="2798064"/>
            <a:ext cx="109728" cy="10972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2706624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表征变化型：某些层输入输出高度相似，新增变化很小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960120" y="4160520"/>
            <a:ext cx="5166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4FF">
                <a:alpha val="8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24712" y="4288536"/>
            <a:ext cx="48371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有效深度 ≈ min 第 k 层，使得：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输出差异 &lt; 阈值  或  性能损失 &lt; 阈值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83680" y="406908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F3F0FF"/>
          </a:solidFill>
          <a:ln w="12700">
            <a:solidFill>
              <a:srgbClr val="DED4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39712" y="427939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阈值举例：</a:t>
            </a:r>
            <a:endParaRPr lang="en-US" sz="1380" dirty="0"/>
          </a:p>
          <a:p>
            <a:pPr indent="0" marL="0">
              <a:buNone/>
            </a:pPr>
            <a:r>
              <a:rPr lang="en-US" sz="138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Top-k 重合率、KL 散度、困惑度变化、MMLU/GSM8K 分数下降</a:t>
            </a:r>
            <a:endParaRPr lang="en-US" sz="1380" dirty="0"/>
          </a:p>
        </p:txBody>
      </p:sp>
      <p:sp>
        <p:nvSpPr>
          <p:cNvPr id="15" name="Shape 12"/>
          <p:cNvSpPr/>
          <p:nvPr/>
        </p:nvSpPr>
        <p:spPr>
          <a:xfrm>
            <a:off x="566928" y="6473952"/>
            <a:ext cx="10863072" cy="0"/>
          </a:xfrm>
          <a:prstGeom prst="line">
            <a:avLst/>
          </a:prstGeom>
          <a:noFill/>
          <a:ln w="12700">
            <a:solidFill>
              <a:srgbClr val="DDE7F3">
                <a:alpha val="6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大模型有效深度｜科普汇报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74420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评估方法 1：删除/跳过层，看性能掉不掉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如果少跑一批层，结果几乎不变，说明这些层对该任务的有效贡献较小。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基本做法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41248" y="1783080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9164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保留原模型作为基线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41248" y="2267712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17627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按层重要性或连续区间删除部分层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41248" y="2752344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66090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可做少量微调“修复”损伤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3236976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14553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比较任务分数、延迟和显存</a:t>
            </a:r>
            <a:endParaRPr lang="en-US" sz="17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806440" y="1389888"/>
          <a:ext cx="52120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6126480" y="47914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示意图：前期下降很慢，过某个点后快速崩塌。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85216" y="619963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7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相关研究：ShortGPT（2024/2025），The Unreasonable Ineffectiveness of the Deeper Layers（2024/2025），A Deeper Look at Depth Pruning（2024）。</a:t>
            </a:r>
            <a:endParaRPr lang="en-US" sz="720" dirty="0"/>
          </a:p>
        </p:txBody>
      </p:sp>
      <p:sp>
        <p:nvSpPr>
          <p:cNvPr id="16" name="Shape 13"/>
          <p:cNvSpPr/>
          <p:nvPr/>
        </p:nvSpPr>
        <p:spPr>
          <a:xfrm>
            <a:off x="566928" y="6473952"/>
            <a:ext cx="10863072" cy="0"/>
          </a:xfrm>
          <a:prstGeom prst="line">
            <a:avLst/>
          </a:prstGeom>
          <a:noFill/>
          <a:ln w="12700">
            <a:solidFill>
              <a:srgbClr val="DDE7F3">
                <a:alpha val="6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大模型有效深度｜科普汇报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074420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vector_3d_infographic_style_concept_illust.png">    </p:cNvPr>
          <p:cNvPicPr>
            <a:picLocks noChangeAspect="1"/>
          </p:cNvPicPr>
          <p:nvPr/>
        </p:nvPicPr>
        <p:blipFill>
          <a:blip r:embed="rId1"/>
          <a:srcRect l="0" r="0" t="79" b="79"/>
          <a:stretch/>
        </p:blipFill>
        <p:spPr>
          <a:xfrm>
            <a:off x="6537960" y="1481328"/>
            <a:ext cx="4800600" cy="2697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评估方法 2：早退 / Logit Lens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585216" y="8961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从中间层提前读答案，看它从第几层开始像最终答案。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77240" y="1600200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33272" y="15087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给每一层都接同一个输出头，读出“下一个 token 概率”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77240" y="208483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272" y="199339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比较中间层输出与最终层输出的 KL 散度或 Top-k 重合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77240" y="2569464"/>
            <a:ext cx="109728" cy="10972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3272" y="2478024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若第 k 层以后变化很小，可认为有效深度约为 k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960120" y="3977640"/>
            <a:ext cx="5029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E4FF">
                <a:alpha val="8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24712" y="4105656"/>
            <a:ext cx="47000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有效深度 k：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Top-5 overlap(layer k, final) &gt; 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或 KL(p_k || p_final) &lt; τ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85216" y="619963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7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相关研究：LayerSkip（ACL 2024）使用早退损失和 layer dropout 支持提前退出与自投机解码。</a:t>
            </a:r>
            <a:endParaRPr lang="en-US" sz="720" dirty="0"/>
          </a:p>
        </p:txBody>
      </p:sp>
      <p:sp>
        <p:nvSpPr>
          <p:cNvPr id="14" name="Shape 11"/>
          <p:cNvSpPr/>
          <p:nvPr/>
        </p:nvSpPr>
        <p:spPr>
          <a:xfrm>
            <a:off x="566928" y="6473952"/>
            <a:ext cx="10863072" cy="0"/>
          </a:xfrm>
          <a:prstGeom prst="line">
            <a:avLst/>
          </a:prstGeom>
          <a:noFill/>
          <a:ln w="12700">
            <a:solidFill>
              <a:srgbClr val="DDE7F3">
                <a:alpha val="6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大模型有效深度｜科普汇报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74420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评估方法 3：看每层“改动有多大”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如果一层输入和输出很像，它可能只做了很小的修正。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激活表示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9202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9202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9202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19202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19202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0" y="19202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9202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1488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21488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80160" y="21488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08760" y="21488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37360" y="21488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21488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0" y="21488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23160" y="21488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3774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23774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80160" y="23774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08760" y="23774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23774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65960" y="23774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94560" y="23774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23160" y="23774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26060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1560" y="26060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80160" y="26060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08760" y="26060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37360" y="26060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65960" y="26060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94560" y="26060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3160" y="26060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28346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1560" y="28346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80160" y="28346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08760" y="28346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37360" y="28346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65960" y="28346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94560" y="28346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23160" y="28346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0" y="21488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3566160" y="19202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94760" y="19202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23360" y="19202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51960" y="19202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80560" y="19202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9160" y="19202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37760" y="19202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66360" y="19202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66160" y="21488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794760" y="21488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023360" y="21488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51960" y="21488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480560" y="21488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09160" y="21488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37760" y="21488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166360" y="21488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566160" y="23774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794760" y="23774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023360" y="23774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251960" y="23774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80560" y="23774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09160" y="23774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937760" y="23774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166360" y="23774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566160" y="26060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794760" y="26060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023360" y="26060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51960" y="26060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480560" y="26060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709160" y="26060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937760" y="26060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66360" y="26060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566160" y="28346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794760" y="28346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023360" y="28346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251960" y="28346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480560" y="28346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709160" y="2834640"/>
            <a:ext cx="201168" cy="201168"/>
          </a:xfrm>
          <a:prstGeom prst="rect">
            <a:avLst/>
          </a:prstGeom>
          <a:solidFill>
            <a:srgbClr val="D7C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937760" y="2834640"/>
            <a:ext cx="201168" cy="201168"/>
          </a:xfrm>
          <a:prstGeom prst="rect">
            <a:avLst/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166360" y="2834640"/>
            <a:ext cx="201168" cy="201168"/>
          </a:xfrm>
          <a:prstGeom prst="rect">
            <a:avLst/>
          </a:prstGeom>
          <a:solidFill>
            <a:srgbClr val="BDE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389888" y="31272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x_l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4151376" y="31272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x_{l+1}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868680" y="4160520"/>
            <a:ext cx="46634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5E4FF">
                <a:alpha val="85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33272" y="4288536"/>
            <a:ext cx="43342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Block Influence（简化直觉）: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BI_l = 1 - cos( x_l, x_{l+1} )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6446520" y="1572768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702552" y="14813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Cosine：看输入输出方向是否接近</a:t>
            </a:r>
            <a:endParaRPr lang="en-US" sz="1700" dirty="0"/>
          </a:p>
        </p:txBody>
      </p:sp>
      <p:sp>
        <p:nvSpPr>
          <p:cNvPr id="92" name="Shape 90"/>
          <p:cNvSpPr/>
          <p:nvPr/>
        </p:nvSpPr>
        <p:spPr>
          <a:xfrm>
            <a:off x="6446520" y="205740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702552" y="19659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CKA：比较不同层的整体表征是否相似</a:t>
            </a:r>
            <a:endParaRPr lang="en-US" sz="1700" dirty="0"/>
          </a:p>
        </p:txBody>
      </p:sp>
      <p:sp>
        <p:nvSpPr>
          <p:cNvPr id="94" name="Shape 92"/>
          <p:cNvSpPr/>
          <p:nvPr/>
        </p:nvSpPr>
        <p:spPr>
          <a:xfrm>
            <a:off x="6446520" y="2542032"/>
            <a:ext cx="109728" cy="10972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702552" y="24505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残差比例：看 F_l 的改动量相对 x_l 有多大</a:t>
            </a:r>
            <a:endParaRPr lang="en-US" sz="1700" dirty="0"/>
          </a:p>
        </p:txBody>
      </p:sp>
      <p:sp>
        <p:nvSpPr>
          <p:cNvPr id="96" name="Shape 94"/>
          <p:cNvSpPr/>
          <p:nvPr/>
        </p:nvSpPr>
        <p:spPr>
          <a:xfrm>
            <a:off x="6400800" y="3977640"/>
            <a:ext cx="4526280" cy="73152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10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6601968" y="4142232"/>
            <a:ext cx="412394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注意：相似 ≠ 没用。某些任务可能正需要这些“微调”。</a:t>
            </a:r>
            <a:endParaRPr lang="en-US" sz="1700" dirty="0"/>
          </a:p>
        </p:txBody>
      </p:sp>
      <p:sp>
        <p:nvSpPr>
          <p:cNvPr id="98" name="Text 96"/>
          <p:cNvSpPr/>
          <p:nvPr/>
        </p:nvSpPr>
        <p:spPr>
          <a:xfrm>
            <a:off x="585216" y="619963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7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相关研究：ShortGPT 引入 Block Influence；CKA 常用于表征相似度分析。</a:t>
            </a:r>
            <a:endParaRPr lang="en-US" sz="720" dirty="0"/>
          </a:p>
        </p:txBody>
      </p:sp>
      <p:sp>
        <p:nvSpPr>
          <p:cNvPr id="99" name="Shape 97"/>
          <p:cNvSpPr/>
          <p:nvPr/>
        </p:nvSpPr>
        <p:spPr>
          <a:xfrm>
            <a:off x="566928" y="6473952"/>
            <a:ext cx="10863072" cy="0"/>
          </a:xfrm>
          <a:prstGeom prst="line">
            <a:avLst/>
          </a:prstGeom>
          <a:noFill/>
          <a:ln w="12700">
            <a:solidFill>
              <a:srgbClr val="DDE7F3">
                <a:alpha val="65000"/>
              </a:srgbClr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66928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大模型有效深度｜科普汇报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1074420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评估方法 4：不能只看一个指标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有效深度评估至少要同时看“质量 + 效率 + 稳定性”。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1033272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DE7F3"/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1627632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2F80ED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74650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07792" y="1700784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困惑度 PPL、MMLU、GSM8K、代码题、摘要题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234440" y="2496312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7C3AED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61518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07792" y="2569464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token/s、首 token 延迟、显存、KV Cache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234440" y="3364992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00B8D9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48386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鲁棒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07792" y="3438144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不同提示词、不同长度、不同难度、不同领域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234440" y="4233672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F59E0B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435254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07792" y="4306824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幻觉、拒答、安全对齐是否变化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25880" y="5650992"/>
            <a:ext cx="9509760" cy="493776"/>
          </a:xfrm>
          <a:prstGeom prst="roundRect">
            <a:avLst>
              <a:gd name="adj" fmla="val 14815"/>
            </a:avLst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527048" y="5815584"/>
            <a:ext cx="91074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8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科普版结论：如果“质量几乎不降、速度明显变快”，这就是有效深度研究最直观的价值。</a:t>
            </a:r>
            <a:endParaRPr lang="en-US" sz="1680" dirty="0"/>
          </a:p>
        </p:txBody>
      </p:sp>
      <p:sp>
        <p:nvSpPr>
          <p:cNvPr id="19" name="Shape 17"/>
          <p:cNvSpPr/>
          <p:nvPr/>
        </p:nvSpPr>
        <p:spPr>
          <a:xfrm>
            <a:off x="566928" y="6473952"/>
            <a:ext cx="10863072" cy="0"/>
          </a:xfrm>
          <a:prstGeom prst="line">
            <a:avLst/>
          </a:prstGeom>
          <a:noFill/>
          <a:ln w="12700">
            <a:solidFill>
              <a:srgbClr val="DDE7F3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大模型有效深度｜科普汇报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74420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一套可复用的评估流程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把“有效深度”从概念变成可重复实验。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7F3"/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1783080"/>
            <a:ext cx="502920" cy="50292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90195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0" y="17099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选模型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45920" y="2057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小模型先跑通，如 0.5B–3B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26280" y="150876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7F3"/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178308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190195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0" y="17099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选任务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94960" y="2057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语言建模 + 具体任务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75320" y="150876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7F3"/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6488" y="1783080"/>
            <a:ext cx="502920" cy="50292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190195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0" y="17099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跑基线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144000" y="2057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记录分数、延迟、显存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333756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7F3"/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8408" y="3611880"/>
            <a:ext cx="502920" cy="50292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373075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45920" y="35387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逐层观察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645920" y="3886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logit lens / 相似度 / 梯度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26280" y="333756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7F3"/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27448" y="361188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373075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94960" y="35387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删层或早退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5394960" y="3886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比较不同 k 的性能曲线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75320" y="333756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7F3"/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76488" y="3611880"/>
            <a:ext cx="502920" cy="50292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76488" y="373075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0" y="35387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给结论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9144000" y="3886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有效深度区间 + 风险边界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14400" y="5440680"/>
            <a:ext cx="10241280" cy="530352"/>
          </a:xfrm>
          <a:prstGeom prst="roundRect">
            <a:avLst>
              <a:gd name="adj" fmla="val 13793"/>
            </a:avLst>
          </a:prstGeom>
          <a:solidFill>
            <a:srgbClr val="F3F0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115568" y="5605272"/>
            <a:ext cx="983894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报告时不要只说“能删几层”，还要说明：在哪些任务、哪些阈值、是否微调、速度收益是多少。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566928" y="6473952"/>
            <a:ext cx="10863072" cy="0"/>
          </a:xfrm>
          <a:prstGeom prst="line">
            <a:avLst/>
          </a:prstGeom>
          <a:noFill/>
          <a:ln w="12700">
            <a:solidFill>
              <a:srgbClr val="DDE7F3">
                <a:alpha val="6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大模型有效深度｜科普汇报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74420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现有研究给我们的信号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B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这些研究不等于“所有后层都没用”，而是提示：层间确实存在可测量冗余。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4800600" cy="1170432"/>
          </a:xfrm>
          <a:prstGeom prst="roundRect">
            <a:avLst>
              <a:gd name="adj" fmla="val 6250"/>
            </a:avLst>
          </a:prstGeom>
          <a:solidFill>
            <a:srgbClr val="10233D"/>
          </a:solidFill>
          <a:ln w="12700">
            <a:solidFill>
              <a:srgbClr val="2F80ED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1801368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ShortGPT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143000" y="216712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E5ED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用输入/输出相似度衡量层重要性，发现不少层贡献很小。</a:t>
            </a:r>
            <a:endParaRPr lang="en-US" sz="1380" dirty="0"/>
          </a:p>
        </p:txBody>
      </p:sp>
      <p:sp>
        <p:nvSpPr>
          <p:cNvPr id="7" name="Shape 5"/>
          <p:cNvSpPr/>
          <p:nvPr/>
        </p:nvSpPr>
        <p:spPr>
          <a:xfrm>
            <a:off x="868680" y="3246120"/>
            <a:ext cx="4800600" cy="1170432"/>
          </a:xfrm>
          <a:prstGeom prst="roundRect">
            <a:avLst>
              <a:gd name="adj" fmla="val 6250"/>
            </a:avLst>
          </a:prstGeom>
          <a:solidFill>
            <a:srgbClr val="10233D"/>
          </a:solidFill>
          <a:ln w="12700">
            <a:solidFill>
              <a:srgbClr val="7C3AED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3447288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Deeper Layers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43000" y="381304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E5ED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在若干开源 LLM 上，连续删掉较多层后仍能保持部分 QA 性能。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4800600" cy="1170432"/>
          </a:xfrm>
          <a:prstGeom prst="roundRect">
            <a:avLst>
              <a:gd name="adj" fmla="val 6250"/>
            </a:avLst>
          </a:prstGeom>
          <a:solidFill>
            <a:srgbClr val="10233D"/>
          </a:solidFill>
          <a:ln w="12700">
            <a:solidFill>
              <a:srgbClr val="00B8D9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801368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0B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LayerSkip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583680" y="216712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E5ED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训练时鼓励中间层也能输出，用早退和自投机解码加速推理。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6309360" y="3246120"/>
            <a:ext cx="4800600" cy="1170432"/>
          </a:xfrm>
          <a:prstGeom prst="roundRect">
            <a:avLst>
              <a:gd name="adj" fmla="val 6250"/>
            </a:avLst>
          </a:prstGeom>
          <a:solidFill>
            <a:srgbClr val="10233D"/>
          </a:solidFill>
          <a:ln w="12700">
            <a:solidFill>
              <a:srgbClr val="F59E0B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3447288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Effective Depth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583680" y="381304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E5ED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 研究讨论模型规模、长 CoT、任务难度对有效深度的影响。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1051560" y="5321808"/>
            <a:ext cx="9875520" cy="493776"/>
          </a:xfrm>
          <a:prstGeom prst="roundRect">
            <a:avLst>
              <a:gd name="adj" fmla="val 14815"/>
            </a:avLst>
          </a:prstGeom>
          <a:solidFill>
            <a:srgbClr val="0B1A3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252728" y="5486400"/>
            <a:ext cx="94731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CFE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谨慎表述：不同模型、任务、阈值、是否微调，结论可能差别很大。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85216" y="619963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7891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资料来源：Men et al. 2024/2025；Gromov et al. 2024/2025；Elhoushi et al. 2024；Hu et al. 2025。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566928" y="6473952"/>
            <a:ext cx="10863072" cy="0"/>
          </a:xfrm>
          <a:prstGeom prst="line">
            <a:avLst/>
          </a:prstGeom>
          <a:noFill/>
          <a:ln w="12700">
            <a:solidFill>
              <a:srgbClr val="274060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4C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大模型有效深度｜科普汇报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74420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EA4C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常见误区：不要把有效深度讲过头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科普时最容易被误解的四点。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误区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1325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“后面层没用”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663440" y="132588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更准确：在某些任务和阈值下，贡献可能较小。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914400" y="1856232"/>
            <a:ext cx="10149840" cy="0"/>
          </a:xfrm>
          <a:prstGeom prst="line">
            <a:avLst/>
          </a:prstGeom>
          <a:noFill/>
          <a:ln w="12700">
            <a:solidFill>
              <a:srgbClr val="E5EA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50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误区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2350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“删层一定安全”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63440" y="235000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删层可能伤害长文本、复杂推理、安全对齐。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14400" y="2880360"/>
            <a:ext cx="10149840" cy="0"/>
          </a:xfrm>
          <a:prstGeom prst="line">
            <a:avLst/>
          </a:prstGeom>
          <a:noFill/>
          <a:ln w="12700">
            <a:solidFill>
              <a:srgbClr val="E5EA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741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误区 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33741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“CoT 越长越深”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337413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 CoT 主要增加 token 步数，不等于每个 token 用更多层。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914400" y="3904488"/>
            <a:ext cx="10149840" cy="0"/>
          </a:xfrm>
          <a:prstGeom prst="line">
            <a:avLst/>
          </a:prstGeom>
          <a:noFill/>
          <a:ln w="12700">
            <a:solidFill>
              <a:srgbClr val="E5EA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3982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误区 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11680" y="43982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“只看平均分就够”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63440" y="439826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还要看崩溃样本、领域迁移和延迟收益。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914400" y="4928616"/>
            <a:ext cx="10149840" cy="0"/>
          </a:xfrm>
          <a:prstGeom prst="line">
            <a:avLst/>
          </a:prstGeom>
          <a:noFill/>
          <a:ln w="12700">
            <a:solidFill>
              <a:srgbClr val="E5EA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577840"/>
            <a:ext cx="10149840" cy="54864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15568" y="5742432"/>
            <a:ext cx="97475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一句话：有效深度是“测出来的相对概念”，不是对某一层下绝对判决。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66928" y="6473952"/>
            <a:ext cx="10863072" cy="0"/>
          </a:xfrm>
          <a:prstGeom prst="line">
            <a:avLst/>
          </a:prstGeom>
          <a:noFill/>
          <a:ln w="12700">
            <a:solidFill>
              <a:srgbClr val="DDE7F3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大模型有效深度｜科普汇报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74420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课堂/汇报可做的小实验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即使没有大算力，也能用小模型演示有效深度评估思路。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建议从小模型开始：0.5B–3B，先 CPU/4GB GPU 跑通流程。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057400"/>
            <a:ext cx="3154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DE7F3"/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331720"/>
            <a:ext cx="2697480" cy="384048"/>
          </a:xfrm>
          <a:prstGeom prst="roundRect">
            <a:avLst>
              <a:gd name="adj" fmla="val 16667"/>
            </a:avLst>
          </a:prstGeom>
          <a:solidFill>
            <a:srgbClr val="2F80ED">
              <a:alpha val="9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432304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 A：残差相似度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1234440" y="3063240"/>
            <a:ext cx="25146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记录每层 x_l 与 x_{l+1} 的 cosine，观察哪些层改动小。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4663440" y="2057400"/>
            <a:ext cx="3154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DE7F3"/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2331720"/>
            <a:ext cx="2697480" cy="384048"/>
          </a:xfrm>
          <a:prstGeom prst="roundRect">
            <a:avLst>
              <a:gd name="adj" fmla="val 16667"/>
            </a:avLst>
          </a:prstGeom>
          <a:solidFill>
            <a:srgbClr val="7C3AED">
              <a:alpha val="9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432304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 B：Logit Lens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983480" y="3063240"/>
            <a:ext cx="25146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每层接输出头，观察预测排名何时接近最终层。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8412480" y="2057400"/>
            <a:ext cx="3154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DE7F3"/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41080" y="2331720"/>
            <a:ext cx="2697480" cy="384048"/>
          </a:xfrm>
          <a:prstGeom prst="roundRect">
            <a:avLst>
              <a:gd name="adj" fmla="val 16667"/>
            </a:avLst>
          </a:prstGeom>
          <a:solidFill>
            <a:srgbClr val="00B8D9">
              <a:alpha val="9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2432304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 C：删层曲线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732520" y="3063240"/>
            <a:ext cx="25146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删除少量连续层，画“保留层数 vs 分数/速度”曲线。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914400" y="5212080"/>
            <a:ext cx="10241280" cy="603504"/>
          </a:xfrm>
          <a:prstGeom prst="roundRect">
            <a:avLst>
              <a:gd name="adj" fmla="val 12121"/>
            </a:avLst>
          </a:prstGeom>
          <a:solidFill>
            <a:srgbClr val="E6F4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15568" y="5376672"/>
            <a:ext cx="983894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推荐汇报输出：1 张相似度热图 + 1 张删层曲线 + 1 张早退稳定曲线。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66928" y="6473952"/>
            <a:ext cx="10863072" cy="0"/>
          </a:xfrm>
          <a:prstGeom prst="line">
            <a:avLst/>
          </a:prstGeom>
          <a:noFill/>
          <a:ln w="12700">
            <a:solidFill>
              <a:srgbClr val="DDE7F3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大模型有效深度｜科普汇报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74420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high_tech_abstract_scene_a_glowi.png">    </p:cNvPr>
          <p:cNvPicPr>
            <a:picLocks noChangeAspect="1"/>
          </p:cNvPicPr>
          <p:nvPr/>
        </p:nvPicPr>
        <p:blipFill>
          <a:blip r:embed="rId1"/>
          <a:srcRect l="0" r="0" t="87" b="87"/>
          <a:stretch/>
        </p:blipFill>
        <p:spPr>
          <a:xfrm>
            <a:off x="6537960" y="1444752"/>
            <a:ext cx="5029200" cy="28254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最后带走 5 句话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585216" y="8961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B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适合作为科普汇报的结尾。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822960" y="1664208"/>
            <a:ext cx="109728" cy="10972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8992" y="157276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2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有效深度关心“真正用到多少层”，不是模型总层数。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2231136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213969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2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残差连接让深层模型好训练，也让信息可以绕过部分层。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279806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8992" y="270662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2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评估要结合删层、早退、表征相似和任务性能。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22960" y="336499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327355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2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不同任务和阈值会得到不同有效深度。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22960" y="3931920"/>
            <a:ext cx="109728" cy="10972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8992" y="384048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2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它的价值在于：更快推理、更省部署、更懂模型。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22960" y="516636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10233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024128" y="5330952"/>
            <a:ext cx="471830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DF7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科普金句：大模型像很深的楼，不是每次回答都要“每一层都搬重物”。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66928" y="6473952"/>
            <a:ext cx="10863072" cy="0"/>
          </a:xfrm>
          <a:prstGeom prst="line">
            <a:avLst/>
          </a:prstGeom>
          <a:noFill/>
          <a:ln w="12700">
            <a:solidFill>
              <a:srgbClr val="274060">
                <a:alpha val="6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4C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大模型有效深度｜科普汇报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074420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EA4C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参考资料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用于进一步阅读和查证。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Vaswani et al., Attention Is All You Need, 2017. arXiv:1706.03762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68680" y="180136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D2L.ai, The Transformer Architecture：残差连接与 LayerNorm 的直观解释。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23682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Men et al., ShortGPT: Layers in Large Language Models are More Redundant Than You Expect, 2024/2025.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93522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 Gromov et al., The Unreasonable Ineffectiveness of the Deeper Layers, 2024/ICLR 2025.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5021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 Elhoushi et al., LayerSkip: Enabling Early Exit Inference and Self-Speculative Decoding, ACL 2024.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6. Siddiqui et al., A Deeper Look at Depth Pruning of LLMs, 2024.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6360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7. Hu, Zhou, Zhang, What Affects the Effective Depth of Large Language Models?, 2025.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" y="5715000"/>
            <a:ext cx="10241280" cy="502920"/>
          </a:xfrm>
          <a:prstGeom prst="roundRect">
            <a:avLst>
              <a:gd name="adj" fmla="val 14545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223044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15568" y="5879592"/>
            <a:ext cx="983894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建议演讲时强调：这些论文是研究现象，不是要求大家直接剪掉生产模型的层。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66928" y="6473952"/>
            <a:ext cx="10863072" cy="0"/>
          </a:xfrm>
          <a:prstGeom prst="line">
            <a:avLst/>
          </a:prstGeom>
          <a:noFill/>
          <a:ln w="12700">
            <a:solidFill>
              <a:srgbClr val="DDE7F3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大模型有效深度｜科普汇报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74420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大模型有效深度：概念、成因与评估</dc:title>
  <dc:subject>大模型有效深度：概念、成因与评估</dc:subject>
  <dc:creator>OpenAI</dc:creator>
  <cp:lastModifiedBy>OpenAI</cp:lastModifiedBy>
  <cp:revision>1</cp:revision>
  <dcterms:created xsi:type="dcterms:W3CDTF">2026-06-11T11:21:19Z</dcterms:created>
  <dcterms:modified xsi:type="dcterms:W3CDTF">2026-06-11T11:21:19Z</dcterms:modified>
</cp:coreProperties>
</file>